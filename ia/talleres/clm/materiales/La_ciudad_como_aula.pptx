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81250" y="1695449"/>
            <a:ext cx="6229194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2080"/>
              </a:spcAft>
            </a:pPr>
            <a:r>
              <a:rPr sz="3827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 La ciudad como aula:</a:t>
            </a:r>
            <a:r>
              <a:rPr sz="1104"/>
              <a:t>
</a:t>
            </a:r>
            <a:r>
              <a:rPr sz="3827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 </a:t>
            </a:r>
            <a:r>
              <a:rPr sz="3827" b="1">
                <a:solidFill>
                  <a:srgbClr val="FEE79B"/>
                </a:solidFill>
                <a:latin typeface="MiSans"/>
                <a:rFonts ascii="MiSans" hAnsi="MiSans" eastAsia="MiSans" cs="MiSans"/>
              </a:rPr>
              <a:t>Granada en B1</a:t>
            </a:r>
            <a:r>
              <a:rPr sz="3827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2" y="3524250"/>
            <a:ext cx="1219169" cy="38100"/>
          </a:xfrm>
          <a:prstGeom prst="rect">
            <a:avLst/>
          </a:prstGeom>
          <a:solidFill>
            <a:srgbClr val="FEE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81250" y="3867149"/>
            <a:ext cx="62291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3F4F6"/>
                </a:solidFill>
                <a:latin typeface="MiSans"/>
                <a:rFonts ascii="MiSans" hAnsi="MiSans" eastAsia="MiSans" cs="MiSans"/>
              </a:rPr>
              <a:t>Aprender español en las calles de Granada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67253" y="4674268"/>
            <a:ext cx="457188" cy="3669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552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14300"/>
            <a:ext cx="461950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1. Descubriendo Granada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686050"/>
            <a:ext cx="4086122" cy="2295525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3055872"/>
            <a:ext cx="285742" cy="212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17" y="3009900"/>
            <a:ext cx="24478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Objetivo comunicativo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3562349"/>
            <a:ext cx="3476538" cy="11144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MiSans"/>
                <a:rFonts ascii="MiSans" hAnsi="MiSans" eastAsia="MiSans" cs="MiSans"/>
              </a:rPr>
              <a:t>Expresar interés por conocer una ciudad y compartir experiencias previas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5292" y="1695449"/>
            <a:ext cx="6276818" cy="224789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10084" y="2104636"/>
            <a:ext cx="285742" cy="134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10124" y="2019299"/>
            <a:ext cx="16096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Frases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0084" y="25717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Nunca había estado en Granada, pero me han contado que es preciosa.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0084" y="3333749"/>
            <a:ext cx="566723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104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¿Has visitado alguna ciudad española antes?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5292" y="4248150"/>
            <a:ext cx="6276818" cy="1724024"/>
          </a:xfrm>
          <a:prstGeom prst="roundRect">
            <a:avLst>
              <a:gd name="adj" fmla="val 17679"/>
            </a:avLst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10084" y="4607767"/>
            <a:ext cx="285742" cy="2332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0124" y="4572000"/>
            <a:ext cx="17144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Micro-tarea 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0084" y="5048250"/>
            <a:ext cx="5667233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3F4F6"/>
                </a:solidFill>
                <a:latin typeface="MiSans"/>
                <a:rFonts ascii="MiSans" hAnsi="MiSans" eastAsia="MiSans" cs="MiSans"/>
              </a:rPr>
              <a:t>En parejas, compartid durante 2 minutos qué os interesa más de Granada: la Alhambra, el Albaicín, la comida, la gente...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552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14300"/>
            <a:ext cx="294315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2. ¿Dónde está?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876549"/>
            <a:ext cx="4086122" cy="1924049"/>
          </a:xfrm>
          <a:prstGeom prst="roundRect">
            <a:avLst>
              <a:gd name="adj" fmla="val 158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3246372"/>
            <a:ext cx="285742" cy="212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17" y="3200400"/>
            <a:ext cx="24478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Objetivo comunicativo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3752849"/>
            <a:ext cx="3476538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MiSans"/>
                <a:rFonts ascii="MiSans" hAnsi="MiSans" eastAsia="MiSans" cs="MiSans"/>
              </a:rPr>
              <a:t>Preguntar y dar indicaciones para localizar lugares en la ciudad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5292" y="1390650"/>
            <a:ext cx="6276818" cy="255270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10084" y="1799836"/>
            <a:ext cx="285742" cy="134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10124" y="1714500"/>
            <a:ext cx="16096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Frases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0084" y="22669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Perdone, ¿sabe cómo llego a la plaza de Bib-Rambla?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0084" y="30289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104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Siga todo recto y doble a la derecha en el segundo semáforo.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5292" y="4248150"/>
            <a:ext cx="6276818" cy="2038349"/>
          </a:xfrm>
          <a:prstGeom prst="roundRect">
            <a:avLst>
              <a:gd name="adj" fmla="val 14953"/>
            </a:avLst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10084" y="4607767"/>
            <a:ext cx="285742" cy="2332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0124" y="4572000"/>
            <a:ext cx="17144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Micro-tarea 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0084" y="5048250"/>
            <a:ext cx="5667233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3F4F6"/>
                </a:solidFill>
                <a:latin typeface="MiSans"/>
                <a:rFonts ascii="MiSans" hAnsi="MiSans" eastAsia="MiSans" cs="MiSans"/>
              </a:rPr>
              <a:t>Uno de vosotros es un turista perdido y el otro un local. El turista pregunta por 3 lugares emblemáticos (Alhambra, Catedral, Plaza Nueva) y el local da indicaciones claras.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1116"/>
            <a:ext cx="342891" cy="2778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14300"/>
            <a:ext cx="296220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3. ¿Cómo llego?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876549"/>
            <a:ext cx="4086122" cy="1924049"/>
          </a:xfrm>
          <a:prstGeom prst="roundRect">
            <a:avLst>
              <a:gd name="adj" fmla="val 158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3246372"/>
            <a:ext cx="285742" cy="212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17" y="3200400"/>
            <a:ext cx="24478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Objetivo comunicativo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3752849"/>
            <a:ext cx="3476538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MiSans"/>
                <a:rFonts ascii="MiSans" hAnsi="MiSans" eastAsia="MiSans" cs="MiSans"/>
              </a:rPr>
              <a:t>Comparar opciones de transporte y decidir la más adecuada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5292" y="1543050"/>
            <a:ext cx="6276818" cy="2247899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10084" y="1952236"/>
            <a:ext cx="285742" cy="134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10124" y="1866899"/>
            <a:ext cx="16096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Frases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0084" y="2419349"/>
            <a:ext cx="566723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Para ir al Sacromonte es mejor coger el microbús.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0084" y="2876549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104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¿Te viene bien ir andando? Es más rápido que el autobús en hora punta.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5292" y="4095749"/>
            <a:ext cx="6276818" cy="2038349"/>
          </a:xfrm>
          <a:prstGeom prst="roundRect">
            <a:avLst>
              <a:gd name="adj" fmla="val 14953"/>
            </a:avLst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10084" y="4455367"/>
            <a:ext cx="285742" cy="2332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0124" y="4419600"/>
            <a:ext cx="17144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Micro-tarea 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0084" y="4895849"/>
            <a:ext cx="5667233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3F4F6"/>
                </a:solidFill>
                <a:latin typeface="MiSans"/>
                <a:rFonts ascii="MiSans" hAnsi="MiSans" eastAsia="MiSans" cs="MiSans"/>
              </a:rPr>
              <a:t>Tenéis 3 minutos para decidir cómo ir desde el centro hasta el mirador de San Nicolás. Discutid ventajas e inconvenientes de: andar, autobús, taxi.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552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14300"/>
            <a:ext cx="389562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4. ¿Dónde compro...?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876549"/>
            <a:ext cx="4086122" cy="1924049"/>
          </a:xfrm>
          <a:prstGeom prst="roundRect">
            <a:avLst>
              <a:gd name="adj" fmla="val 158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3246372"/>
            <a:ext cx="285742" cy="212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17" y="3200400"/>
            <a:ext cx="24478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Objetivo comunicativo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3752849"/>
            <a:ext cx="3476538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MiSans"/>
                <a:rFonts ascii="MiSans" hAnsi="MiSans" eastAsia="MiSans" cs="MiSans"/>
              </a:rPr>
              <a:t>Realizar consultas en comercios y pedir productos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5292" y="1390650"/>
            <a:ext cx="6276818" cy="255270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10084" y="1799836"/>
            <a:ext cx="285742" cy="134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10124" y="1714500"/>
            <a:ext cx="16096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Frases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0084" y="22669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¿Podría decirme dónde encuentro una farmacia que esté abierta?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0084" y="30289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104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Busco algo típico de aquí para llevarme de recuerdo.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5292" y="4248150"/>
            <a:ext cx="6276818" cy="2038349"/>
          </a:xfrm>
          <a:prstGeom prst="roundRect">
            <a:avLst>
              <a:gd name="adj" fmla="val 14953"/>
            </a:avLst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10084" y="4607767"/>
            <a:ext cx="285742" cy="2332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0124" y="4572000"/>
            <a:ext cx="17144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Micro-tarea 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0084" y="5048250"/>
            <a:ext cx="5667233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3F4F6"/>
                </a:solidFill>
                <a:latin typeface="MiSans"/>
                <a:rFonts ascii="MiSans" hAnsi="MiSans" eastAsia="MiSans" cs="MiSans"/>
              </a:rPr>
              <a:t>En el mercado de San Agustín, preguntad por productos locales: jamón, queso, frutas. Interactuad como si fuerais de verdad, pidiendo precios y recomendaciones.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552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14300"/>
            <a:ext cx="358131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5. ¿Qué probamos?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686050"/>
            <a:ext cx="4086122" cy="2295525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3055872"/>
            <a:ext cx="285742" cy="212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17" y="3009900"/>
            <a:ext cx="24478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Objetivo comunicativo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3562349"/>
            <a:ext cx="3476538" cy="11144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MiSans"/>
                <a:rFonts ascii="MiSans" hAnsi="MiSans" eastAsia="MiSans" cs="MiSans"/>
              </a:rPr>
              <a:t>Pedir comida y bebida en establecimientos locales y recomendar platos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5292" y="1390650"/>
            <a:ext cx="6276818" cy="255270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10084" y="1799836"/>
            <a:ext cx="285742" cy="134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10124" y="1714500"/>
            <a:ext cx="16096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Frases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0084" y="22669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¿Qué me recomienda de tapas que sea típico de Granada?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0084" y="30289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104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Esta tortilla del Sacromonte está buenísima, ¿te apetece probar?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5292" y="4248150"/>
            <a:ext cx="6276818" cy="2038349"/>
          </a:xfrm>
          <a:prstGeom prst="roundRect">
            <a:avLst>
              <a:gd name="adj" fmla="val 14953"/>
            </a:avLst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10084" y="4607767"/>
            <a:ext cx="285742" cy="2332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0124" y="4572000"/>
            <a:ext cx="17144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Micro-tarea 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0084" y="5048250"/>
            <a:ext cx="5667233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3F4F6"/>
                </a:solidFill>
                <a:latin typeface="MiSans"/>
                <a:rFonts ascii="MiSans" hAnsi="MiSans" eastAsia="MiSans" cs="MiSans"/>
              </a:rPr>
              <a:t>Estáis en una taberna del Realejo. Cada uno pedid 2 tapas y 2 bebidas diferentes. Explicad al compañero por qué las habéis elegido.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53726"/>
            <a:ext cx="342891" cy="2926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14300"/>
            <a:ext cx="417184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6. ¿Qué hacemos hoy?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876549"/>
            <a:ext cx="4086122" cy="1924049"/>
          </a:xfrm>
          <a:prstGeom prst="roundRect">
            <a:avLst>
              <a:gd name="adj" fmla="val 158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3246372"/>
            <a:ext cx="285742" cy="212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17" y="3200400"/>
            <a:ext cx="24478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Objetivo comunicativo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3752849"/>
            <a:ext cx="3476538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MiSans"/>
                <a:rFonts ascii="MiSans" hAnsi="MiSans" eastAsia="MiSans" cs="MiSans"/>
              </a:rPr>
              <a:t>Proponer, aceptar y rechazar planes culturales y de ocio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5292" y="1543050"/>
            <a:ext cx="6276818" cy="255270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10084" y="1952236"/>
            <a:ext cx="285742" cy="134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10124" y="1866899"/>
            <a:ext cx="16096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Frases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0084" y="2419349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¿Qué te parece si vamos a ver los flamencos del Zambra en el Sacromonte?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0084" y="31813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104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No me apetece nada hacer turismo, prefiero ir a dar una vuelta por el barrio.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5292" y="4400550"/>
            <a:ext cx="6276818" cy="1724024"/>
          </a:xfrm>
          <a:prstGeom prst="roundRect">
            <a:avLst>
              <a:gd name="adj" fmla="val 17679"/>
            </a:avLst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10084" y="4760167"/>
            <a:ext cx="285742" cy="2332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0124" y="4724399"/>
            <a:ext cx="17144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Micro-tarea 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0084" y="5200650"/>
            <a:ext cx="5667233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3F4F6"/>
                </a:solidFill>
                <a:latin typeface="MiSans"/>
                <a:rFonts ascii="MiSans" hAnsi="MiSans" eastAsia="MiSans" cs="MiSans"/>
              </a:rPr>
              <a:t>Tenéis que planificar una tarde juntos (de 16:00 a 21:00). Propón 3 actividades diferentes y llegad a un acuerdo sobre qué hacer.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93632"/>
            <a:ext cx="342891" cy="2128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14300"/>
            <a:ext cx="37432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7. Conociendo gente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876549"/>
            <a:ext cx="4086122" cy="1924049"/>
          </a:xfrm>
          <a:prstGeom prst="roundRect">
            <a:avLst>
              <a:gd name="adj" fmla="val 1584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3246372"/>
            <a:ext cx="285742" cy="212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17" y="3200400"/>
            <a:ext cx="24478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Objetivo comunicativo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3752849"/>
            <a:ext cx="3476538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MiSans"/>
                <a:rFonts ascii="MiSans" hAnsi="MiSans" eastAsia="MiSans" cs="MiSans"/>
              </a:rPr>
              <a:t>Iniciar conversaciones informales con locales y mantenerlas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5292" y="1390650"/>
            <a:ext cx="6276818" cy="255270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10084" y="1799836"/>
            <a:ext cx="285742" cy="134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10124" y="1714500"/>
            <a:ext cx="16096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Frases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0084" y="22669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Perdone, ¿es usted de aquí? Es que estamos perdidos.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0084" y="30289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104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¿Vive usted en este barrio desde hace mucho tiempo?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5292" y="4248150"/>
            <a:ext cx="6276818" cy="2038349"/>
          </a:xfrm>
          <a:prstGeom prst="roundRect">
            <a:avLst>
              <a:gd name="adj" fmla="val 14953"/>
            </a:avLst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10084" y="4607767"/>
            <a:ext cx="285742" cy="2332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0124" y="4572000"/>
            <a:ext cx="17144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Micro-tarea 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0084" y="5048250"/>
            <a:ext cx="5667233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3F4F6"/>
                </a:solidFill>
                <a:latin typeface="MiSans"/>
                <a:rFonts ascii="MiSans" hAnsi="MiSans" eastAsia="MiSans" cs="MiSans"/>
              </a:rPr>
              <a:t>Simulad que estáis sentados en una terraza de la Plaza de la Trinidad y el camarero empieza a hablar con vosotros. Mantened la conversación durante 2 minutos.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5550"/>
            <a:ext cx="342891" cy="268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14300"/>
            <a:ext cx="394325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8. Granada en mi vida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686050"/>
            <a:ext cx="4086122" cy="2295525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3055872"/>
            <a:ext cx="285742" cy="212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17" y="3009900"/>
            <a:ext cx="24478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Objetivo comunicativo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3562349"/>
            <a:ext cx="3476538" cy="11144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F2937"/>
                </a:solidFill>
                <a:latin typeface="MiSans"/>
                <a:rFonts ascii="MiSans" hAnsi="MiSans" eastAsia="MiSans" cs="MiSans"/>
              </a:rPr>
              <a:t>Expresar opiniones y sentimientos sobre la experiencia en la ciudad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5292" y="1543050"/>
            <a:ext cx="6276818" cy="2552700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10084" y="1952236"/>
            <a:ext cx="285742" cy="134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10124" y="1866899"/>
            <a:ext cx="16096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Frases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0084" y="2419349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Lo que más me ha gustado de Granada ha sido la gente.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0084" y="3181350"/>
            <a:ext cx="5667233" cy="6096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104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No esperaba que la Alhambra fuera tan impresionante en persona.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5292" y="4400550"/>
            <a:ext cx="6276818" cy="1724024"/>
          </a:xfrm>
          <a:prstGeom prst="roundRect">
            <a:avLst>
              <a:gd name="adj" fmla="val 17679"/>
            </a:avLst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10084" y="4760167"/>
            <a:ext cx="285742" cy="2332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10124" y="4724399"/>
            <a:ext cx="17144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Micro-tarea 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0084" y="5200650"/>
            <a:ext cx="5667233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3F4F6"/>
                </a:solidFill>
                <a:latin typeface="MiSans"/>
                <a:rFonts ascii="MiSans" hAnsi="MiSans" eastAsia="MiSans" cs="MiSans"/>
              </a:rPr>
              <a:t>En grupos de 3, compartid durante 3 minutos qué os ha sorprendido más de Granada y qué llevaréis de esta experiencia.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702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14300"/>
            <a:ext cx="404802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Rúbrica de evaluación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600200"/>
            <a:ext cx="10972525" cy="3333749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" y="1600200"/>
            <a:ext cx="10972525" cy="571500"/>
          </a:xfrm>
          <a:prstGeom prst="rect">
            <a:avLst/>
          </a:prstGeom>
          <a:solidFill>
            <a:srgbClr val="882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179" y="1752599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Criterio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310" y="1752599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1 punto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1" y="1752599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2 puntos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67573" y="1752599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iSans"/>
                <a:rFonts ascii="MiSans" hAnsi="MiSans" eastAsia="MiSans" cs="MiSans"/>
              </a:rPr>
              <a:t>3 puntos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179" y="2476499"/>
            <a:ext cx="79055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Fluidez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310" y="2362199"/>
            <a:ext cx="228594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Dificultad para expresarse, muchas pausas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1" y="2362199"/>
            <a:ext cx="228594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Se expresa con cierta fluidez, alguna pausa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7573" y="2362199"/>
            <a:ext cx="228594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Se expresa con naturalidad y fluidez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79" y="3390899"/>
            <a:ext cx="12953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Adecuación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310" y="3276599"/>
            <a:ext cx="228594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Usa vocabulario o estructuras inadecuadas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1" y="3276599"/>
            <a:ext cx="228594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Usa vocabulario adecuado con algunos errores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7573" y="3276599"/>
            <a:ext cx="228594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Usa vocabulario y estructuras correctos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79" y="4324349"/>
            <a:ext cx="121916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Interacción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310" y="4210049"/>
            <a:ext cx="228594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Participa poco, no responde bien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1" y="4210049"/>
            <a:ext cx="228594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Participa activamente, responde adecuadamente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7573" y="4210049"/>
            <a:ext cx="228594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MiSans"/>
                <a:rFonts ascii="MiSans" hAnsi="MiSans" eastAsia="MiSans" cs="MiSans"/>
              </a:rPr>
              <a:t>Participa con iniciativa y buena reacción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71765" y="5238749"/>
            <a:ext cx="1523961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359" y="5391150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4B5563"/>
                </a:solidFill>
                <a:latin typeface="MiSans"/>
                <a:rFonts ascii="MiSans" hAnsi="MiSans" eastAsia="MiSans" cs="MiSans"/>
              </a:rPr>
              <a:t>7-9 puntos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359" y="5619750"/>
            <a:ext cx="106677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Excelente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4321" y="5238749"/>
            <a:ext cx="1171545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52916" y="5391150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4B5563"/>
                </a:solidFill>
                <a:latin typeface="MiSans"/>
                <a:rFonts ascii="MiSans" hAnsi="MiSans" eastAsia="MiSans" cs="MiSans"/>
              </a:rPr>
              <a:t>4-6 puntos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2916" y="5619750"/>
            <a:ext cx="7143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Bueno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4461" y="5238749"/>
            <a:ext cx="2295467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53056" y="5391150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4B5563"/>
                </a:solidFill>
                <a:latin typeface="MiSans"/>
                <a:rFonts ascii="MiSans" hAnsi="MiSans" eastAsia="MiSans" cs="MiSans"/>
              </a:rPr>
              <a:t>1-3 puntos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3056" y="5619750"/>
            <a:ext cx="183827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882F1C"/>
                </a:solidFill>
                <a:latin typeface="MiSans"/>
                <a:rFonts ascii="MiSans" hAnsi="MiSans" eastAsia="MiSans" cs="MiSans"/>
              </a:rPr>
              <a:t>Necesita mejorar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